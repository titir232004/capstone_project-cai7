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CD047B-EBF8-4929-B334-C63FFDBECBFF}">
  <a:tblStyle styleId="{EDCD047B-EBF8-4929-B334-C63FFDBECBFF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6d1409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d6d1409d8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f1a63157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8cf1a63157_3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cf1a63157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8cf1a63157_3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d6d1409d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d6d1409d8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cf1a63157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8cf1a63157_2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d6d1409d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7d6d1409d8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cf1a6315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8cf1a63157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cf1a6315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8cf1a63157_2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d6d1409d8_3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d6d1409d8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d6d1409d8_3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d6d1409d8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d6d1409d8_3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d6d1409d8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6d1409d8_3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d6d1409d8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d6d1409d8_3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d6d1409d8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8962fcd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78962fcdd2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b="1" sz="2000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:\Users\AMMU\Desktop\Border.png" id="52" name="Google Shape;5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b="1" i="0" sz="2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cap="flat" cmpd="thickThin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18045" l="0" r="0" t="0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NdNtO_BZUGL0sNYvhJkbSt7jBuTrJ59U/view" TargetMode="External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titir232004/CAPSTONE_PROJECT-CAI7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irjweb.com/360-DEGREE%20FEEDBACK%20SOFTWARE%20FOR%20THE%20GOVERNMENT%20PRESS%20INFORMATION%20BUREAU%20(PIB)%20USING%20ARTIFICIAL%20INTELLIGENCE%20AND%20MACHINE%20LEARNING.pdf" TargetMode="External"/><Relationship Id="rId4" Type="http://schemas.openxmlformats.org/officeDocument/2006/relationships/hyperlink" Target="https://www.researchgate.net/publication/380505351_360-DEGREE_FEEDBACK_SOFTWARE_FOR_THE_GOVERNMENT_PRESS_INFORMATION_BUREAU_PIB_USING_ARTIFICIAL_INTELLIGENCE_AND_MACHINE_LEARNING" TargetMode="External"/><Relationship Id="rId5" Type="http://schemas.openxmlformats.org/officeDocument/2006/relationships/hyperlink" Target="https://blogs.vorecol.com/blog-the-role-of-artificial-intelligence-in-enhancing-360degree-feedback-processes-185999" TargetMode="External"/><Relationship Id="rId6" Type="http://schemas.openxmlformats.org/officeDocument/2006/relationships/hyperlink" Target="https://iarjset.com/wp-content/uploads/2024/05/IARJSET.2024.114104.pdf" TargetMode="External"/><Relationship Id="rId7" Type="http://schemas.openxmlformats.org/officeDocument/2006/relationships/hyperlink" Target="https://www.mdpi.com/2076-3417/13/3/1445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eur-ws.org/Vol-3159/T6-16.pdf" TargetMode="External"/><Relationship Id="rId4" Type="http://schemas.openxmlformats.org/officeDocument/2006/relationships/hyperlink" Target="https://www.sciencedirect.com/science/article/pii/S1877050920315301" TargetMode="External"/><Relationship Id="rId5" Type="http://schemas.openxmlformats.org/officeDocument/2006/relationships/hyperlink" Target="https://www.ijarsct.co.in/A27718.pdf" TargetMode="External"/><Relationship Id="rId6" Type="http://schemas.openxmlformats.org/officeDocument/2006/relationships/hyperlink" Target="https://online.bamu.ac.in/naac_ssr/file_upload/28_36484_3948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360-degree feedback software for the Government of India related News Stories in Regional Media using Artificial Intelligence / Machine Learning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569868" y="2032002"/>
            <a:ext cx="4391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Batch Number: CAI_7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550570" y="2418715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Dr. Afroz Pasha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Professor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505397" y="2513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{EDCD047B-EBF8-4929-B334-C63FFDBECBFF}</a:tableStyleId>
              </a:tblPr>
              <a:tblGrid>
                <a:gridCol w="2085000"/>
                <a:gridCol w="3333675"/>
              </a:tblGrid>
              <a:tr h="3062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b="1" sz="18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b="1" sz="18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20221CAI0010      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20221CAI0052</a:t>
                      </a:r>
                      <a:endParaRPr sz="18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20221CAI0065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CSE7101- Capstone Project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Review-</a:t>
            </a:r>
            <a:r>
              <a:rPr b="1" lang="en-US"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1" i="0" sz="18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CAI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 </a:t>
            </a:r>
            <a:r>
              <a:rPr b="1" lang="en-US" sz="1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Dr. Zafar Ali Khan 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Coordinator: </a:t>
            </a:r>
            <a:r>
              <a:rPr b="1" lang="en-US" sz="1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Ms. Suma N 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943975" y="2527350"/>
            <a:ext cx="36066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CHANDREYI AVIJIT GHOSH </a:t>
            </a:r>
            <a:endParaRPr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KEERTHANA B</a:t>
            </a:r>
            <a:endParaRPr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SARAH FAROOQUI</a:t>
            </a:r>
            <a:endParaRPr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Content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655775" y="1090250"/>
            <a:ext cx="10668000" cy="4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Project Overview and Objectives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System Architecture and Workflow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Component Details and Implementation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Timeline of the Project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Git-hub Link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953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Problem Statement Number: PSCS-35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12800" y="977225"/>
            <a:ext cx="10668000" cy="51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152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-US" sz="9750">
                <a:latin typeface="Times New Roman"/>
                <a:ea typeface="Times New Roman"/>
                <a:cs typeface="Times New Roman"/>
                <a:sym typeface="Times New Roman"/>
              </a:rPr>
              <a:t>Organization: </a:t>
            </a:r>
            <a:r>
              <a:rPr lang="en-US" sz="8950">
                <a:latin typeface="Times New Roman"/>
                <a:ea typeface="Times New Roman"/>
                <a:cs typeface="Times New Roman"/>
                <a:sym typeface="Times New Roman"/>
              </a:rPr>
              <a:t>Ministry of Information and Broadcasting</a:t>
            </a:r>
            <a:endParaRPr sz="8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815"/>
              <a:buNone/>
            </a:pPr>
            <a:r>
              <a:t/>
            </a:r>
            <a:endParaRPr sz="8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-US" sz="9750">
                <a:latin typeface="Times New Roman"/>
                <a:ea typeface="Times New Roman"/>
                <a:cs typeface="Times New Roman"/>
                <a:sym typeface="Times New Roman"/>
              </a:rPr>
              <a:t>Category: </a:t>
            </a:r>
            <a:r>
              <a:rPr lang="en-US" sz="8950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8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815"/>
              <a:buNone/>
            </a:pPr>
            <a:r>
              <a:t/>
            </a:r>
            <a:endParaRPr sz="8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US" sz="9600">
                <a:latin typeface="Times New Roman"/>
                <a:ea typeface="Times New Roman"/>
                <a:cs typeface="Times New Roman"/>
                <a:sym typeface="Times New Roman"/>
              </a:rPr>
              <a:t>  Objective</a:t>
            </a:r>
            <a:r>
              <a:rPr lang="en-US" sz="9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9100">
                <a:latin typeface="Times New Roman"/>
                <a:ea typeface="Times New Roman"/>
                <a:cs typeface="Times New Roman"/>
                <a:sym typeface="Times New Roman"/>
              </a:rPr>
              <a:t>Create a 360-degree feedback software for the Government of India to monitor news, analyze public sentiment, and provide actionable insights using AI/ML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9600">
                <a:latin typeface="Times New Roman"/>
                <a:ea typeface="Times New Roman"/>
                <a:cs typeface="Times New Roman"/>
                <a:sym typeface="Times New Roman"/>
              </a:rPr>
              <a:t>  Challenges:</a:t>
            </a:r>
            <a:endParaRPr b="1" sz="9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8800">
                <a:latin typeface="Times New Roman"/>
                <a:ea typeface="Times New Roman"/>
                <a:cs typeface="Times New Roman"/>
                <a:sym typeface="Times New Roman"/>
              </a:rPr>
              <a:t>Managing large volumes of multilingual news data</a:t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8800">
                <a:latin typeface="Times New Roman"/>
                <a:ea typeface="Times New Roman"/>
                <a:cs typeface="Times New Roman"/>
                <a:sym typeface="Times New Roman"/>
              </a:rPr>
              <a:t>Real-time sentiment analysis and feedback generation</a:t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8800">
                <a:latin typeface="Times New Roman"/>
                <a:ea typeface="Times New Roman"/>
                <a:cs typeface="Times New Roman"/>
                <a:sym typeface="Times New Roman"/>
              </a:rPr>
              <a:t>Ensuring accuracy and bias-free insights</a:t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8800">
                <a:latin typeface="Times New Roman"/>
                <a:ea typeface="Times New Roman"/>
                <a:cs typeface="Times New Roman"/>
                <a:sym typeface="Times New Roman"/>
              </a:rPr>
              <a:t>Secure handling of sensitive government data</a:t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600">
                <a:latin typeface="Times New Roman"/>
                <a:ea typeface="Times New Roman"/>
                <a:cs typeface="Times New Roman"/>
                <a:sym typeface="Times New Roman"/>
              </a:rPr>
              <a:t>  Goal</a:t>
            </a:r>
            <a:r>
              <a:rPr lang="en-US" sz="9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800">
                <a:latin typeface="Times New Roman"/>
                <a:ea typeface="Times New Roman"/>
                <a:cs typeface="Times New Roman"/>
                <a:sym typeface="Times New Roman"/>
              </a:rPr>
              <a:t>Enable efficient news monitoring and informed decision-making for the Press Information Bureau (PIB)</a:t>
            </a:r>
            <a:endParaRPr sz="8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97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Project Overview and 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737050" y="1438375"/>
            <a:ext cx="108195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This project develops a comprehensive media monitoring platform for the Government of India leveraging diverse sources (websites, e-newspapers, and YouTube) using advanced AI/ML.</a:t>
            </a:r>
            <a:br>
              <a:rPr lang="en-US" sz="1800">
                <a:latin typeface="Roboto"/>
                <a:ea typeface="Roboto"/>
                <a:cs typeface="Roboto"/>
                <a:sym typeface="Roboto"/>
              </a:rPr>
            </a:b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Objectives: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Automate the collection and analysis of government-related news and feedback.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Cover multiple regional languages and media types.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Deliver actionable insights for timely, data-driven government decisions.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System Architecture and Workflow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812800" y="1209200"/>
            <a:ext cx="10819500" cy="4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Updated System Architecture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Provide a detailed diagram and description of the system architecture, reflecting any changes or optimizations made since Review 2. Include: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High-level architecture diagram (e.g., components, data flow, and interactions).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Any new components, modules, or integrations added.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Technologies, frameworks, or tools adopted or modified.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Workflow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Describe the workflow of the system, including: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How data or processes flow through the system.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Updates to workflows based on implementation progress or feedback.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Any automation or optimization introduced.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Scalability and Performance Considerations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Discuss how the architecture supports scalability, performance improvements, or fault tolerance, with specific examples of enhancements made since Review 2.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Module Level Design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37050" y="1394875"/>
            <a:ext cx="108195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13785" l="0" r="0" t="0"/>
          <a:stretch/>
        </p:blipFill>
        <p:spPr>
          <a:xfrm>
            <a:off x="1921275" y="1179650"/>
            <a:ext cx="7563875" cy="4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Unit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Design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37050" y="1394875"/>
            <a:ext cx="10819500" cy="2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14192" l="0" r="0" t="0"/>
          <a:stretch/>
        </p:blipFill>
        <p:spPr>
          <a:xfrm>
            <a:off x="305350" y="1036850"/>
            <a:ext cx="11542325" cy="48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Component Details and Implementation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686250" y="863650"/>
            <a:ext cx="10819500" cy="6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1.System Components (Overview)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system follows a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modular, microservice-based design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where each task is handled by a dedicated component.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All services are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containerized using Docker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and managed via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Kubernetes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for scalability.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flows through a structured pipeline: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Ingestion → Processing → NLP Analysis → Storage → Dashboard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Integrated features: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real-time alerts, strong security measures, and human-in-loop feedback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for continuous improvement.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2.Data Ingestion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Web Crawlers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(BeautifulSoup, Scrapy) automatically scrape articles from regional news sites.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E-papers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are collected as PDFs/images and passed to OCR for text extraction.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YouTube Data API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retrieves video content, metadata (titles, descriptions), and audio streams.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All raw data is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standardized into JSON format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with metadata tags (source, date, language).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This ensures uniformity for downstream processing modules.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Component Details and Implementation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570275" y="887400"/>
            <a:ext cx="10819500" cy="6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3.Language Identification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lightweight transformer-based models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to detect both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language and script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Supports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Hindi, Bengali, Kannada, and English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, with scalability for more Indian languages.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Each input is assigned a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confidence score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to ensure accurate downstream processing.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Enables fallback to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multi-model pipelines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if uncertainty is high (e.g., code-mixed content).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4. Modality Processing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Automatic Speech Recognition (ASR):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YouTube audio is transcribed using Whisper/Kaldi for multilingual speech.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Optical Character Recognition (OCR):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Tesseract or custom OCR extracts text from e-papers and scanned PDFs.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Text Extraction: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Cleans news articles by removing ads, boilerplate, and formatting noise.</a:t>
            </a:r>
            <a:b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Converts all data types into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plain text format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, ready for normalization.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3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Component Details and Implementation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737050" y="921625"/>
            <a:ext cx="10819500" cy="59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 5.Text Normalization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Applies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Unicode normalization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to maintain text consistency.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Handles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code-mixed text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by transliteration (e.g., Hindi words in English script).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Removes stop words, unwanted characters, and performs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basic tokenization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Ensures standardized and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clean text input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for embedding and NLP modules.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6.Translation &amp; Embedding Layer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Neural Machine Translation (NMT):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Converts non-English text into English for uniform analysis.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Multilingual Embeddings (LaBSE, IndicBERT, XLM-RoBERTa):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Generate semantic representations of text.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Embeddings allow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semantic search, clustering, and similarity detection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across languages.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Maintains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traceability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by linking translated outputs back to the original source language.</a:t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Component Details and Implementation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37050" y="921625"/>
            <a:ext cx="10819500" cy="6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7.NLP Core Services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Topic Detection: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Classifies content into categories like Politics, Health, Education, etc.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Sentiment &amp; Tone Analysis: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Detects polarity (Positive, Negative, Neutral) and evaluates tone (critical/supportive).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Summarization: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Provides concise summaries of long articles or transcripts (extractive with option for abstractive).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Outputs are structured with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labels, summaries, and metadata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enabling quick insights.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8. Storage &amp; Indexing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PostgreSQL: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Stores structured metadata (titles, authors, dates, tags).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Elasticsearch / OpenSearch: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Enables semantic search, trend analysis, and analytics dashboards.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S3-compatible storage: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Archives original raw text, transcripts, and article scans for long-term access.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Designed for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scalability, redundancy, and compliance with government IT standards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Component Details and Implementation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37050" y="921625"/>
            <a:ext cx="10862400" cy="7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89">
                <a:latin typeface="Times New Roman"/>
                <a:ea typeface="Times New Roman"/>
                <a:cs typeface="Times New Roman"/>
                <a:sym typeface="Times New Roman"/>
              </a:rPr>
              <a:t>9.Dashboard &amp; Alerts</a:t>
            </a:r>
            <a:endParaRPr b="1" sz="14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90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Developed in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ReactJS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, optimized for non-technical PIB officers.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Features: filters by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date, department, sentiment, and language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visual analytics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: sentiment trends, charts, tables, and keyword highlights.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Char char="●"/>
            </a:pP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Real-time alerts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 (Email/SMS/API) trigger when negative sentiment spikes or urgent issues arise.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Font typeface="Times New Roman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Ensures fast, informed decision-making for stakeholders.</a:t>
            </a: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89">
                <a:latin typeface="Times New Roman"/>
                <a:ea typeface="Times New Roman"/>
                <a:cs typeface="Times New Roman"/>
                <a:sym typeface="Times New Roman"/>
              </a:rPr>
              <a:t>10.Human Feedback &amp; Security</a:t>
            </a:r>
            <a:endParaRPr b="1" sz="14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90"/>
              <a:buChar char="●"/>
            </a:pP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Human-in-the-loop corrections: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 Analysts can edit transcripts, sentiment tags, or summaries.</a:t>
            </a: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90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Feedback loop helps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retrain AI models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 for higher accuracy over time.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Font typeface="Times New Roman"/>
              <a:buChar char="●"/>
            </a:pP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Security Features:</a:t>
            </a:r>
            <a:b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Font typeface="Times New Roman"/>
              <a:buChar char="○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End-to-end encryption (TLS in transit, AES-256 at rest).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Font typeface="Times New Roman"/>
              <a:buChar char="○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Role-Based Access Control (RBAC) for authorized use.</a:t>
            </a:r>
            <a:b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48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"/>
              <a:buChar char="○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audit logging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 to track every action and modification.</a:t>
            </a:r>
            <a:endParaRPr sz="128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Ensures compliance with </a:t>
            </a:r>
            <a:r>
              <a:rPr b="1" lang="en-US" sz="1289">
                <a:latin typeface="Times New Roman"/>
                <a:ea typeface="Times New Roman"/>
                <a:cs typeface="Times New Roman"/>
                <a:sym typeface="Times New Roman"/>
              </a:rPr>
              <a:t>privacy, legal, and ethical guidelines</a:t>
            </a:r>
            <a:r>
              <a:rPr lang="en-US" sz="1289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489">
                <a:latin typeface="Arial"/>
                <a:ea typeface="Arial"/>
                <a:cs typeface="Arial"/>
                <a:sym typeface="Arial"/>
              </a:rPr>
            </a:br>
            <a:endParaRPr sz="148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650" y="1001151"/>
            <a:ext cx="10180300" cy="576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00" y="868775"/>
            <a:ext cx="11672874" cy="53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900" y="1063225"/>
            <a:ext cx="10517901" cy="53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812800" y="1143000"/>
            <a:ext cx="112242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225" y="1143000"/>
            <a:ext cx="4138326" cy="26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575" y="1143000"/>
            <a:ext cx="4232400" cy="26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8000" y="1143000"/>
            <a:ext cx="3767001" cy="26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800" y="4740500"/>
            <a:ext cx="11224200" cy="662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197" name="Google Shape;197;p29" title="DEMO_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800" y="1066788"/>
            <a:ext cx="91440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Timeline of the Project (Gantt Chart)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25" y="949825"/>
            <a:ext cx="11006749" cy="50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Github Link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Github link provided should have public access permission.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Github Link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[1] K. S. Kumar, D. S. Rajput, B. S. S. Raj, and R. S. Raj, "360-degree feedback software for the Government Press Information Bureau (PIB) using artificial intelligence and machine learning," *Int. Res. J. Mod. Eng. Technol. Sci.*, vol. 6, no. 5, pp. 714–720, May 2024. [Online]. Available: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Link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[2] K. S. Kumar, D. S. Rajput, B. S. S. Raj, and R. S. Raj, "360-degree feedback software for the Government Press Information Bureau (PIB) using artificial intelligence and machine learning," *Res. Gate*, May 2024, doi: 10.13140/RG.2.2.12131.14880. [Online]. Available: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Link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[3] Vorecol Team, "The role of artificial intelligence in enhancing 360-degree feedback processes," *Vorecol Blog*, 2024. [Online]. Available: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Link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[4] K. S. Kumar, D. S. Rajput, B. S. S. Raj, and R. S. Raj, "360-degree feedback software for the Government Press Information Bureau (PIB) using artificial intelligence and machine learning," *Int. Adv. Res. J. Sci. Eng. Technol.*, vol. 11, no. 4, pp. 714–720, 2024. [Online]. Available: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6"/>
              </a:rPr>
              <a:t>Link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[5] S. M. Alblwi, A. A. Almazroi, M. Alqarni, H. Alqahtani, and A. Albesher, "A review of 360-degree feedback as a tool of leadership competency development," *Appl. Sci.*, vol. 13, no. 3, p. 1445, Jan. 2023, doi: 10.3390/app13031445. [Online]. Available: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7"/>
              </a:rPr>
              <a:t>Link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[6] D. I. Ivanova and A. V. Sokolov, "360-degree feedback: Automation using natural language processing," in *Proc. CEUR Workshop*, vol. 3159, 2022, pp. 1–8. [Online]. Available: </a:t>
            </a:r>
            <a:r>
              <a:rPr lang="en-US" sz="215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Link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t/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[7] A. V. Sokolov and D. I. Ivanova, "Automation of 360-degree feedback processes in organizations using natural language processing," *Procedia Comput. Sci.*, vol. 178, pp. 350–357, 2020, doi: 10.1016/j.procs.2020.11.037. [Online]. Available: </a:t>
            </a:r>
            <a:r>
              <a:rPr lang="en-US" sz="215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Link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t/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[8] K. S. Kumar, D. S. Rajput, B. S. S. Raj, and R. S. Raj, "360-degree feedback software for the Government Press Information Bureau (PIB) using artificial intelligence and machine learning," *Int. J. Adv. Res. Sci. Commun. Technol.*, vol. 4, no. 5, pp. 714–720, May 2024. [Online]. Available: </a:t>
            </a:r>
            <a:r>
              <a:rPr lang="en-US" sz="215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Link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t/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[9] "Sentiment analysis of tweets in three Indian languages," 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t/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[10] "Sentence opinion mining model for fusing target entities in official government documents," 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t/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51162"/>
              <a:buNone/>
            </a:pPr>
            <a:r>
              <a:rPr lang="en-US" sz="2150">
                <a:latin typeface="Cambria"/>
                <a:ea typeface="Cambria"/>
                <a:cs typeface="Cambria"/>
                <a:sym typeface="Cambria"/>
              </a:rPr>
              <a:t>[11] "NAAC SSR document," Dr. Babasaheb Ambedkar Marathwada Univ., 2023. [Online]. Available: </a:t>
            </a:r>
            <a:r>
              <a:rPr lang="en-US" sz="215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6"/>
              </a:rPr>
              <a:t>Link</a:t>
            </a:r>
            <a:endParaRPr sz="2150"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2811" y="1441315"/>
            <a:ext cx="3893305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